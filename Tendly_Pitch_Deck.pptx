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solidFill>
            <a:srgbClr val="09090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2926080"/>
            <a:ext cx="7315200" cy="7315200"/>
          </a:xfrm>
          <a:prstGeom prst="ellipse">
            <a:avLst/>
          </a:prstGeom>
          <a:ln>
            <a:noFill/>
          </a:ln>
          <a:solidFill>
            <a:srgbClr val="C8A96E">
              <a:alpha val="6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ln>
            <a:noFill/>
          </a:ln>
          <a:solidFill>
            <a:srgbClr val="C8A96E">
              <a:alpha val="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1645920" cy="22860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  <a:latin typeface="Helvetica Neue"/>
              </a:rPr>
              <a:t>tendly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D4A8"/>
                </a:solidFill>
                <a:latin typeface="Helvetica Neue"/>
              </a:rPr>
              <a:t>AI-Powered Care for Every 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63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E"/>
                </a:solidFill>
                <a:latin typeface="Helvetica Neue"/>
              </a:rPr>
              <a:t>Hackathon Demo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solidFill>
            <a:srgbClr val="09090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96E"/>
                </a:solidFill>
                <a:latin typeface="Helvetica Neue"/>
              </a:rPr>
              <a:t>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05840"/>
            <a:ext cx="548640" cy="22860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Helvetica Neue"/>
              </a:rPr>
              <a:t>Seniors can't get
help when they
need it most.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280160"/>
            <a:ext cx="3977639" cy="1417320"/>
          </a:xfrm>
          <a:prstGeom prst="roundRect">
            <a:avLst>
              <a:gd name="adj" fmla="val 3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3716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8A96E"/>
                </a:solidFill>
                <a:latin typeface="Helvetica Neue"/>
              </a:rPr>
              <a:t>54 million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029967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D4A8"/>
                </a:solidFill>
                <a:latin typeface="Helvetica Neue"/>
              </a:rPr>
              <a:t>Americans aged 65+ need daily care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971800"/>
            <a:ext cx="3977639" cy="1417320"/>
          </a:xfrm>
          <a:prstGeom prst="roundRect">
            <a:avLst>
              <a:gd name="adj" fmla="val 3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30632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8A96E"/>
                </a:solidFill>
                <a:latin typeface="Helvetica Neue"/>
              </a:rPr>
              <a:t>28%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72160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D4A8"/>
                </a:solidFill>
                <a:latin typeface="Helvetica Neue"/>
              </a:rPr>
              <a:t>Of adverse events stem from missed communications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663440"/>
            <a:ext cx="3977639" cy="1417320"/>
          </a:xfrm>
          <a:prstGeom prst="roundRect">
            <a:avLst>
              <a:gd name="adj" fmla="val 3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754879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8A96E"/>
                </a:solidFill>
                <a:latin typeface="Helvetica Neue"/>
              </a:rPr>
              <a:t>10,000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41324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D4A8"/>
                </a:solidFill>
                <a:latin typeface="Helvetica Neue"/>
              </a:rPr>
              <a:t>Baby boomers turn 65 every single 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66560"/>
            <a:ext cx="12188952" cy="36576"/>
          </a:xfrm>
          <a:prstGeom prst="rect">
            <a:avLst/>
          </a:prstGeom>
          <a:ln>
            <a:noFill/>
          </a:ln>
          <a:solidFill>
            <a:srgbClr val="3333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solidFill>
            <a:srgbClr val="09090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96E"/>
                </a:solidFill>
                <a:latin typeface="Helvetica Neue"/>
              </a:rPr>
              <a:t>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05840"/>
            <a:ext cx="548640" cy="22860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8229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Helvetica Neue"/>
              </a:rPr>
              <a:t>One platform.
Three superpowers.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017520"/>
            <a:ext cx="3429000" cy="3383280"/>
          </a:xfrm>
          <a:prstGeom prst="roundRect">
            <a:avLst>
              <a:gd name="adj" fmla="val 4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3246120"/>
            <a:ext cx="457200" cy="22860"/>
          </a:xfrm>
          <a:prstGeom prst="rect">
            <a:avLst/>
          </a:prstGeom>
          <a:ln>
            <a:noFill/>
          </a:ln>
          <a:solidFill>
            <a:srgbClr val="6B9B8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456432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Helvetica Neue"/>
              </a:rPr>
              <a:t>Patient
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07408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8D4A8"/>
                </a:solidFill>
                <a:latin typeface="Helvetica Neue"/>
              </a:rPr>
              <a:t>One tap. Speak any need. Instantly routed.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017520"/>
            <a:ext cx="3429000" cy="3383280"/>
          </a:xfrm>
          <a:prstGeom prst="roundRect">
            <a:avLst>
              <a:gd name="adj" fmla="val 4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0" y="3246120"/>
            <a:ext cx="457200" cy="22860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456432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Helvetica Neue"/>
              </a:rPr>
              <a:t>Caregiver
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407408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8D4A8"/>
                </a:solidFill>
                <a:latin typeface="Helvetica Neue"/>
              </a:rPr>
              <a:t>Live feed, urgency-ranked by AI.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3017520"/>
            <a:ext cx="3429000" cy="3383280"/>
          </a:xfrm>
          <a:prstGeom prst="roundRect">
            <a:avLst>
              <a:gd name="adj" fmla="val 4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0" y="3246120"/>
            <a:ext cx="457200" cy="22860"/>
          </a:xfrm>
          <a:prstGeom prst="rect">
            <a:avLst/>
          </a:prstGeom>
          <a:ln>
            <a:noFill/>
          </a:ln>
          <a:solidFill>
            <a:srgbClr val="8B5C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3456432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Helvetica Neue"/>
              </a:rPr>
              <a:t>AI Triage
&amp;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407408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8D4A8"/>
                </a:solidFill>
                <a:latin typeface="Helvetica Neue"/>
              </a:rPr>
              <a:t>Claude classifies. Simular executes.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solidFill>
            <a:srgbClr val="09090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96E"/>
                </a:solidFill>
                <a:latin typeface="Helvetica Neue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05840"/>
            <a:ext cx="548640" cy="22860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Helvetica Neue"/>
              </a:rPr>
              <a:t>Request to resolution
in under 2 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017520"/>
            <a:ext cx="2057400" cy="2331720"/>
          </a:xfrm>
          <a:prstGeom prst="roundRect">
            <a:avLst>
              <a:gd name="adj" fmla="val 3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1272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96E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Patient Speaks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8795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6E"/>
                </a:solidFill>
                <a:latin typeface="Helvetica Neue"/>
              </a:rPr>
              <a:t>Voice or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397763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44"/>
                </a:solidFill>
                <a:latin typeface="Helvetica Neue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2928" y="3017520"/>
            <a:ext cx="2057400" cy="2331720"/>
          </a:xfrm>
          <a:prstGeom prst="roundRect">
            <a:avLst>
              <a:gd name="adj" fmla="val 3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31272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96E"/>
                </a:solidFill>
                <a:latin typeface="Helvetica Neu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352044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Deepgram STT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418795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6E"/>
                </a:solidFill>
                <a:latin typeface="Helvetica Neue"/>
              </a:rPr>
              <a:t>&lt; 300ms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397763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44"/>
                </a:solidFill>
                <a:latin typeface="Helvetica Neue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57216" y="3017520"/>
            <a:ext cx="2057400" cy="2331720"/>
          </a:xfrm>
          <a:prstGeom prst="roundRect">
            <a:avLst>
              <a:gd name="adj" fmla="val 3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0096" y="31272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96E"/>
                </a:solidFill>
                <a:latin typeface="Helvetica Neu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352044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Claude Triage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418795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6E"/>
                </a:solidFill>
                <a:latin typeface="Helvetica Neue"/>
              </a:rPr>
              <a:t>Category + urgency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5" y="397763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44"/>
                </a:solidFill>
                <a:latin typeface="Helvetica Neue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61504" y="3017520"/>
            <a:ext cx="2057400" cy="2331720"/>
          </a:xfrm>
          <a:prstGeom prst="roundRect">
            <a:avLst>
              <a:gd name="adj" fmla="val 3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44383" y="31272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96E"/>
                </a:solidFill>
                <a:latin typeface="Helvetica Neue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4383" y="352044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Alert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418795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6E"/>
                </a:solidFill>
                <a:latin typeface="Helvetica Neue"/>
              </a:rPr>
              <a:t>Live dashboard push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0344" y="397763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44"/>
                </a:solidFill>
                <a:latin typeface="Helvetica Neue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65792" y="3017520"/>
            <a:ext cx="2057400" cy="2331720"/>
          </a:xfrm>
          <a:prstGeom prst="roundRect">
            <a:avLst>
              <a:gd name="adj" fmla="val 3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48672" y="31272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96E"/>
                </a:solidFill>
                <a:latin typeface="Helvetica Neue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352044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Simular Executes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48672" y="418795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6E"/>
                </a:solidFill>
                <a:latin typeface="Helvetica Neue"/>
              </a:rPr>
              <a:t>Task done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760720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E"/>
                </a:solidFill>
                <a:latin typeface="Helvetica Neue"/>
              </a:rPr>
              <a:t>— Redis memory enriches every step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080759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E"/>
                </a:solidFill>
                <a:latin typeface="Helvetica Neue"/>
              </a:rPr>
              <a:t>— Arize logs every AI 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400800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E"/>
                </a:solidFill>
                <a:latin typeface="Helvetica Neue"/>
              </a:rPr>
              <a:t>— Sentry monitors in production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solidFill>
            <a:srgbClr val="09090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96E"/>
                </a:solidFill>
                <a:latin typeface="Helvetica Neue"/>
              </a:rPr>
              <a:t>Patient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05840"/>
            <a:ext cx="548640" cy="22860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Helvetica Neue"/>
              </a:rPr>
              <a:t>Simple enough for
anyone.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D4A8"/>
                </a:solidFill>
                <a:latin typeface="Helvetica Neue"/>
              </a:rPr>
              <a:t>One button. Any request. Instant response.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66160"/>
            <a:ext cx="164592" cy="292608"/>
          </a:xfrm>
          <a:prstGeom prst="rect">
            <a:avLst/>
          </a:prstGeom>
          <a:ln>
            <a:noFill/>
          </a:ln>
          <a:solidFill>
            <a:srgbClr val="6B9B8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34290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B"/>
                </a:solidFill>
                <a:latin typeface="Helvetica Neue"/>
              </a:rPr>
              <a:t>Voice recording — no typing 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206240"/>
            <a:ext cx="164592" cy="292608"/>
          </a:xfrm>
          <a:prstGeom prst="rect">
            <a:avLst/>
          </a:prstGeom>
          <a:ln>
            <a:noFill/>
          </a:ln>
          <a:solidFill>
            <a:srgbClr val="6B9B8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0690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B"/>
                </a:solidFill>
                <a:latin typeface="Helvetica Neue"/>
              </a:rPr>
              <a:t>Audio talkback — AI speaks the response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846320"/>
            <a:ext cx="164592" cy="292608"/>
          </a:xfrm>
          <a:prstGeom prst="rect">
            <a:avLst/>
          </a:prstGeom>
          <a:ln>
            <a:noFill/>
          </a:ln>
          <a:solidFill>
            <a:srgbClr val="6B9B8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7091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B"/>
                </a:solidFill>
                <a:latin typeface="Helvetica Neue"/>
              </a:rPr>
              <a:t>Confirmation gate for sensitive 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486400"/>
            <a:ext cx="164592" cy="292608"/>
          </a:xfrm>
          <a:prstGeom prst="rect">
            <a:avLst/>
          </a:prstGeom>
          <a:ln>
            <a:noFill/>
          </a:ln>
          <a:solidFill>
            <a:srgbClr val="6B9B8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349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B"/>
                </a:solidFill>
                <a:latin typeface="Helvetica Neue"/>
              </a:rPr>
              <a:t>Recent request history at a glance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411480"/>
            <a:ext cx="4114800" cy="6217920"/>
          </a:xfrm>
          <a:prstGeom prst="roundRect">
            <a:avLst>
              <a:gd name="adj" fmla="val 10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79" y="411480"/>
            <a:ext cx="4114800" cy="36576"/>
          </a:xfrm>
          <a:prstGeom prst="rect">
            <a:avLst/>
          </a:prstGeom>
          <a:ln>
            <a:noFill/>
          </a:ln>
          <a:solidFill>
            <a:srgbClr val="3333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420624"/>
            <a:ext cx="822960" cy="201168"/>
          </a:xfrm>
          <a:prstGeom prst="roundRect">
            <a:avLst>
              <a:gd name="adj" fmla="val 50000"/>
            </a:avLst>
          </a:prstGeom>
          <a:ln>
            <a:noFill/>
          </a:ln>
          <a:solidFill>
            <a:srgbClr val="09090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777240"/>
            <a:ext cx="1828800" cy="5349240"/>
          </a:xfrm>
          <a:prstGeom prst="rect">
            <a:avLst/>
          </a:prstGeom>
          <a:ln>
            <a:noFill/>
          </a:ln>
          <a:solidFill>
            <a:srgbClr val="0D0D1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55480" y="777240"/>
            <a:ext cx="1828800" cy="5349240"/>
          </a:xfrm>
          <a:prstGeom prst="rect">
            <a:avLst/>
          </a:prstGeom>
          <a:ln>
            <a:noFill/>
          </a:ln>
          <a:solidFill>
            <a:srgbClr val="F0EDE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1005840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Good morning,
Mary.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965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E"/>
                </a:solidFill>
                <a:latin typeface="Helvetica Neue"/>
              </a:rPr>
              <a:t>Your care team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90688" y="2304288"/>
            <a:ext cx="292608" cy="292608"/>
          </a:xfrm>
          <a:prstGeom prst="roundRect">
            <a:avLst>
              <a:gd name="adj" fmla="val 50000"/>
            </a:avLst>
          </a:prstGeom>
          <a:ln>
            <a:noFill/>
          </a:ln>
          <a:solidFill>
            <a:srgbClr val="6B9B8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331720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Helvetica Neue"/>
              </a:rPr>
              <a:t>JP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2" y="23500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D4A8"/>
                </a:solidFill>
                <a:latin typeface="Helvetica Neue"/>
              </a:rPr>
              <a:t>Jenny 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90688" y="2761488"/>
            <a:ext cx="292608" cy="292608"/>
          </a:xfrm>
          <a:prstGeom prst="roundRect">
            <a:avLst>
              <a:gd name="adj" fmla="val 50000"/>
            </a:avLst>
          </a:prstGeom>
          <a:ln>
            <a:noFill/>
          </a:ln>
          <a:solidFill>
            <a:srgbClr val="6B9B8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90688" y="2788920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Helvetica Neue"/>
              </a:rPr>
              <a:t>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28072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D4A8"/>
                </a:solidFill>
                <a:latin typeface="Helvetica Neue"/>
              </a:rPr>
              <a:t>Carlos 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38360" y="1828800"/>
            <a:ext cx="1371600" cy="1371600"/>
          </a:xfrm>
          <a:prstGeom prst="roundRect">
            <a:avLst>
              <a:gd name="adj" fmla="val 100000"/>
            </a:avLst>
          </a:prstGeom>
          <a:ln>
            <a:noFill/>
          </a:ln>
          <a:solidFill>
            <a:srgbClr val="6B9B8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60" y="22402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MIC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630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  <a:latin typeface="Helvetica Neue"/>
              </a:rPr>
              <a:t>What do you need?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32918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6E"/>
                </a:solidFill>
                <a:latin typeface="Helvetica Neue"/>
              </a:rPr>
              <a:t>Tap to speak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3794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33344"/>
                </a:solidFill>
                <a:latin typeface="Helvetica Neue"/>
              </a:rPr>
              <a:t>Recent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82912" y="4160520"/>
            <a:ext cx="1737360" cy="457200"/>
          </a:xfrm>
          <a:prstGeom prst="roundRect">
            <a:avLst>
              <a:gd name="adj" fmla="val 20000"/>
            </a:avLst>
          </a:prstGeom>
          <a:ln>
            <a:noFill/>
          </a:ln>
          <a:solidFill>
            <a:srgbClr val="FFFFFF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19488" y="4315968"/>
            <a:ext cx="109728" cy="109728"/>
          </a:xfrm>
          <a:prstGeom prst="roundRect">
            <a:avLst>
              <a:gd name="adj" fmla="val 50000"/>
            </a:avLst>
          </a:prstGeom>
          <a:ln>
            <a:noFill/>
          </a:ln>
          <a:solidFill>
            <a:srgbClr val="22C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65792" y="4215383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2233"/>
                </a:solidFill>
                <a:latin typeface="Helvetica Neue"/>
              </a:rPr>
              <a:t>Blanket requested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442569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6E"/>
                </a:solidFill>
                <a:latin typeface="Helvetica Neue"/>
              </a:rPr>
              <a:t>Done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82912" y="4727448"/>
            <a:ext cx="1737360" cy="457200"/>
          </a:xfrm>
          <a:prstGeom prst="roundRect">
            <a:avLst>
              <a:gd name="adj" fmla="val 20000"/>
            </a:avLst>
          </a:prstGeom>
          <a:ln>
            <a:noFill/>
          </a:ln>
          <a:solidFill>
            <a:srgbClr val="FFFFFF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19488" y="4882896"/>
            <a:ext cx="109728" cy="109728"/>
          </a:xfrm>
          <a:prstGeom prst="roundRect">
            <a:avLst>
              <a:gd name="adj" fmla="val 50000"/>
            </a:avLst>
          </a:prstGeom>
          <a:ln>
            <a:noFill/>
          </a:ln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65792" y="47823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2233"/>
                </a:solidFill>
                <a:latin typeface="Helvetica Neue"/>
              </a:rPr>
              <a:t>Dizziness 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65792" y="4992624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6E"/>
                </a:solidFill>
                <a:latin typeface="Helvetica Neue"/>
              </a:rPr>
              <a:t>Active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82912" y="5294376"/>
            <a:ext cx="1737360" cy="457200"/>
          </a:xfrm>
          <a:prstGeom prst="roundRect">
            <a:avLst>
              <a:gd name="adj" fmla="val 20000"/>
            </a:avLst>
          </a:prstGeom>
          <a:ln>
            <a:noFill/>
          </a:ln>
          <a:solidFill>
            <a:srgbClr val="FFFFFF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19488" y="5449824"/>
            <a:ext cx="109728" cy="109728"/>
          </a:xfrm>
          <a:prstGeom prst="roundRect">
            <a:avLst>
              <a:gd name="adj" fmla="val 50000"/>
            </a:avLst>
          </a:prstGeom>
          <a:ln>
            <a:noFill/>
          </a:ln>
          <a:solidFill>
            <a:srgbClr val="22C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65792" y="53492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2233"/>
                </a:solidFill>
                <a:latin typeface="Helvetica Neue"/>
              </a:rPr>
              <a:t>Sinatra playing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65792" y="555955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6E"/>
                </a:solidFill>
                <a:latin typeface="Helvetica Neue"/>
              </a:rPr>
              <a:t>Done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solidFill>
            <a:srgbClr val="09090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96E"/>
                </a:solidFill>
                <a:latin typeface="Helvetica Neue"/>
              </a:rPr>
              <a:t>Caregiver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05840"/>
            <a:ext cx="548640" cy="22860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Helvetica Neue"/>
              </a:rPr>
              <a:t>Every request.
Every priority.
In real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611880"/>
            <a:ext cx="1325880" cy="822960"/>
          </a:xfrm>
          <a:prstGeom prst="roundRect">
            <a:avLst>
              <a:gd name="adj" fmla="val 30000"/>
            </a:avLst>
          </a:prstGeom>
          <a:ln>
            <a:noFill/>
          </a:ln>
          <a:solidFill>
            <a:srgbClr val="1111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3931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A96E"/>
                </a:solidFill>
                <a:latin typeface="Helvetica Neue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4164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5556E"/>
                </a:solidFill>
                <a:latin typeface="Helvetica Neue"/>
              </a:rPr>
              <a:t>Active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3611880"/>
            <a:ext cx="1325880" cy="822960"/>
          </a:xfrm>
          <a:prstGeom prst="roundRect">
            <a:avLst>
              <a:gd name="adj" fmla="val 30000"/>
            </a:avLst>
          </a:prstGeom>
          <a:ln>
            <a:noFill/>
          </a:ln>
          <a:solidFill>
            <a:srgbClr val="1111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363931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F4444"/>
                </a:solidFill>
                <a:latin typeface="Helvetica Neue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404164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5556E"/>
                </a:solidFill>
                <a:latin typeface="Helvetica Neue"/>
              </a:rPr>
              <a:t>Emergency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3611880"/>
            <a:ext cx="1325880" cy="822960"/>
          </a:xfrm>
          <a:prstGeom prst="roundRect">
            <a:avLst>
              <a:gd name="adj" fmla="val 30000"/>
            </a:avLst>
          </a:prstGeom>
          <a:ln>
            <a:noFill/>
          </a:ln>
          <a:solidFill>
            <a:srgbClr val="1111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363931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A96E"/>
                </a:solidFill>
                <a:latin typeface="Helvetica Neue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04164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5556E"/>
                </a:solidFill>
                <a:latin typeface="Helvetica Neue"/>
              </a:rPr>
              <a:t>Resolved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502920"/>
            <a:ext cx="2971800" cy="2788920"/>
          </a:xfrm>
          <a:prstGeom prst="roundRect">
            <a:avLst>
              <a:gd name="adj" fmla="val 3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0720" y="502920"/>
            <a:ext cx="2971800" cy="36576"/>
          </a:xfrm>
          <a:prstGeom prst="rect">
            <a:avLst/>
          </a:prstGeom>
          <a:ln>
            <a:noFill/>
          </a:ln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70408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Helvetica Neue"/>
              </a:rPr>
              <a:t>Emergency · Medical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06984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Helvetica Neue"/>
              </a:rPr>
              <a:t>Margaret Chen  Rm 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472184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D4A8"/>
                </a:solidFill>
                <a:latin typeface="Helvetica Neue"/>
              </a:rPr>
              <a:t>Chest tightness, difficulty breathing.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834639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B9B8E"/>
                </a:solidFill>
                <a:latin typeface="Helvetica Neue"/>
              </a:rPr>
              <a:t>→ Respond immediately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42832" y="502920"/>
            <a:ext cx="2971800" cy="2788920"/>
          </a:xfrm>
          <a:prstGeom prst="roundRect">
            <a:avLst>
              <a:gd name="adj" fmla="val 3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42832" y="502920"/>
            <a:ext cx="2971800" cy="36576"/>
          </a:xfrm>
          <a:prstGeom prst="rect">
            <a:avLst/>
          </a:prstGeom>
          <a:ln>
            <a:noFill/>
          </a:ln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70408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97316"/>
                </a:solidFill>
                <a:latin typeface="Helvetica Neue"/>
              </a:rPr>
              <a:t>High · Medical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106984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Helvetica Neue"/>
              </a:rPr>
              <a:t>Robert Kim  Rm 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1472184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D4A8"/>
                </a:solidFill>
                <a:latin typeface="Helvetica Neue"/>
              </a:rPr>
              <a:t>Dizziness following new medication.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2834639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B9B8E"/>
                </a:solidFill>
                <a:latin typeface="Helvetica Neue"/>
              </a:rPr>
              <a:t>→ Assess soon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3611880"/>
            <a:ext cx="2971800" cy="2788920"/>
          </a:xfrm>
          <a:prstGeom prst="roundRect">
            <a:avLst>
              <a:gd name="adj" fmla="val 3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60720" y="3611880"/>
            <a:ext cx="2971800" cy="36576"/>
          </a:xfrm>
          <a:prstGeom prst="rect">
            <a:avLst/>
          </a:prstGeom>
          <a:ln>
            <a:noFill/>
          </a:ln>
          <a:solidFill>
            <a:srgbClr val="6B9B8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20" y="381304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9B8E"/>
                </a:solidFill>
                <a:latin typeface="Helvetica Neue"/>
              </a:rPr>
              <a:t>Low · Family Comms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417880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Helvetica Neue"/>
              </a:rPr>
              <a:t>Dorothy Walsh  Rm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4581144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D4A8"/>
                </a:solidFill>
                <a:latin typeface="Helvetica Neue"/>
              </a:rPr>
              <a:t>Wants to call her daughter.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594360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B9B8E"/>
                </a:solidFill>
                <a:latin typeface="Helvetica Neue"/>
              </a:rPr>
              <a:t>→ Initiate call (confirm)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42832" y="3611880"/>
            <a:ext cx="2971800" cy="2788920"/>
          </a:xfrm>
          <a:prstGeom prst="roundRect">
            <a:avLst>
              <a:gd name="adj" fmla="val 3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42832" y="3611880"/>
            <a:ext cx="2971800" cy="36576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71432" y="381304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96E"/>
                </a:solidFill>
                <a:latin typeface="Helvetica Neue"/>
              </a:rPr>
              <a:t>Low · Automated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1432" y="417880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Helvetica Neue"/>
              </a:rPr>
              <a:t>James Patel  Rm 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1432" y="4581144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D4A8"/>
                </a:solidFill>
                <a:latin typeface="Helvetica Neue"/>
              </a:rPr>
              <a:t>Wants to listen to Frank Sinatra.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1432" y="594360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B9B8E"/>
                </a:solidFill>
                <a:latin typeface="Helvetica Neue"/>
              </a:rPr>
              <a:t>→ Run automation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4617720"/>
            <a:ext cx="128016" cy="128016"/>
          </a:xfrm>
          <a:prstGeom prst="roundRect">
            <a:avLst>
              <a:gd name="adj" fmla="val 50000"/>
            </a:avLst>
          </a:prstGeom>
          <a:ln>
            <a:noFill/>
          </a:ln>
          <a:solidFill>
            <a:srgbClr val="22C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45537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C55E"/>
                </a:solidFill>
                <a:latin typeface="Helvetica Neue"/>
              </a:rPr>
              <a:t>Live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solidFill>
            <a:srgbClr val="09090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274319"/>
            <a:ext cx="8229600" cy="8229600"/>
          </a:xfrm>
          <a:prstGeom prst="ellipse">
            <a:avLst/>
          </a:prstGeom>
          <a:ln>
            <a:noFill/>
          </a:ln>
          <a:solidFill>
            <a:srgbClr val="5B21B6">
              <a:alpha val="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96E"/>
                </a:solidFill>
                <a:latin typeface="Helvetica Neue"/>
              </a:rPr>
              <a:t>AI Triage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05840"/>
            <a:ext cx="548640" cy="22860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7315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Helvetica Neue"/>
              </a:rPr>
              <a:t>Claude understands
context, not keywords.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D4A8"/>
                </a:solidFill>
                <a:latin typeface="Helvetica Neue"/>
              </a:rPr>
              <a:t>Every request classified. Every decision logged.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520440"/>
            <a:ext cx="3474720" cy="1097280"/>
          </a:xfrm>
          <a:prstGeom prst="roundRect">
            <a:avLst>
              <a:gd name="adj" fmla="val 3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520440"/>
            <a:ext cx="3474720" cy="36576"/>
          </a:xfrm>
          <a:prstGeom prst="rect">
            <a:avLst/>
          </a:prstGeom>
          <a:ln>
            <a:noFill/>
          </a:ln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76472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Urgent Medical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3520440"/>
            <a:ext cx="3474720" cy="1097280"/>
          </a:xfrm>
          <a:prstGeom prst="roundRect">
            <a:avLst>
              <a:gd name="adj" fmla="val 3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3520440"/>
            <a:ext cx="3474720" cy="36576"/>
          </a:xfrm>
          <a:prstGeom prst="rect">
            <a:avLst/>
          </a:prstGeom>
          <a:ln>
            <a:noFill/>
          </a:ln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3776472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In-Person Caregiver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3520440"/>
            <a:ext cx="3474720" cy="1097280"/>
          </a:xfrm>
          <a:prstGeom prst="roundRect">
            <a:avLst>
              <a:gd name="adj" fmla="val 3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3520440"/>
            <a:ext cx="3474720" cy="36576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3776472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Routine Comfort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846320"/>
            <a:ext cx="3474720" cy="1097280"/>
          </a:xfrm>
          <a:prstGeom prst="roundRect">
            <a:avLst>
              <a:gd name="adj" fmla="val 3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846320"/>
            <a:ext cx="3474720" cy="36576"/>
          </a:xfrm>
          <a:prstGeom prst="rect">
            <a:avLst/>
          </a:prstGeom>
          <a:ln>
            <a:noFill/>
          </a:ln>
          <a:solidFill>
            <a:srgbClr val="8B5C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02352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Automated Task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4846320"/>
            <a:ext cx="3474720" cy="1097280"/>
          </a:xfrm>
          <a:prstGeom prst="roundRect">
            <a:avLst>
              <a:gd name="adj" fmla="val 3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4846320"/>
            <a:ext cx="3474720" cy="36576"/>
          </a:xfrm>
          <a:prstGeom prst="rect">
            <a:avLst/>
          </a:prstGeom>
          <a:ln>
            <a:noFill/>
          </a:ln>
          <a:solidFill>
            <a:srgbClr val="6B9B8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5102352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Family Comms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4846320"/>
            <a:ext cx="3474720" cy="1097280"/>
          </a:xfrm>
          <a:prstGeom prst="roundRect">
            <a:avLst>
              <a:gd name="adj" fmla="val 3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4846320"/>
            <a:ext cx="3474720" cy="36576"/>
          </a:xfrm>
          <a:prstGeom prst="rect">
            <a:avLst/>
          </a:prstGeom>
          <a:ln>
            <a:noFill/>
          </a:ln>
          <a:solidFill>
            <a:srgbClr val="5555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5102352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General Chat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190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5556E"/>
                </a:solidFill>
                <a:latin typeface="Helvetica Neue"/>
              </a:rPr>
              <a:t>"False positives acceptable. False negatives are not."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solidFill>
            <a:srgbClr val="09090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914400"/>
            <a:ext cx="8229600" cy="8229600"/>
          </a:xfrm>
          <a:prstGeom prst="ellipse">
            <a:avLst/>
          </a:prstGeom>
          <a:ln>
            <a:noFill/>
          </a:ln>
          <a:solidFill>
            <a:srgbClr val="6B9B8E">
              <a:alpha val="7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96E"/>
                </a:solidFill>
                <a:latin typeface="Helvetica Neue"/>
              </a:rPr>
              <a:t>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05840"/>
            <a:ext cx="548640" cy="22860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6400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Helvetica Neue"/>
              </a:rPr>
              <a:t>AI that acts,
not just advises.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D4A8"/>
                </a:solidFill>
                <a:latin typeface="Helvetica Neue"/>
              </a:rPr>
              <a:t>Simular executes desktop tasks directly — no caregiver required.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520440"/>
            <a:ext cx="5303520" cy="438912"/>
          </a:xfrm>
          <a:prstGeom prst="roundRect">
            <a:avLst>
              <a:gd name="adj" fmla="val 25000"/>
            </a:avLst>
          </a:prstGeom>
          <a:ln>
            <a:noFill/>
          </a:ln>
          <a:solidFill>
            <a:srgbClr val="1111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B"/>
                </a:solidFill>
                <a:latin typeface="Helvetica Neue"/>
              </a:rPr>
              <a:t>Play Frank Sinatra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069080"/>
            <a:ext cx="5303520" cy="438912"/>
          </a:xfrm>
          <a:prstGeom prst="roundRect">
            <a:avLst>
              <a:gd name="adj" fmla="val 25000"/>
            </a:avLst>
          </a:prstGeom>
          <a:ln>
            <a:noFill/>
          </a:ln>
          <a:solidFill>
            <a:srgbClr val="1111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B"/>
                </a:solidFill>
                <a:latin typeface="Helvetica Neue"/>
              </a:rPr>
              <a:t>Call my daughter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617720"/>
            <a:ext cx="5303520" cy="438912"/>
          </a:xfrm>
          <a:prstGeom prst="roundRect">
            <a:avLst>
              <a:gd name="adj" fmla="val 25000"/>
            </a:avLst>
          </a:prstGeom>
          <a:ln>
            <a:noFill/>
          </a:ln>
          <a:solidFill>
            <a:srgbClr val="1111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6634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B"/>
                </a:solidFill>
                <a:latin typeface="Helvetica Neue"/>
              </a:rPr>
              <a:t>Look up tonight's weather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166360"/>
            <a:ext cx="5303520" cy="438912"/>
          </a:xfrm>
          <a:prstGeom prst="roundRect">
            <a:avLst>
              <a:gd name="adj" fmla="val 25000"/>
            </a:avLst>
          </a:prstGeom>
          <a:ln>
            <a:noFill/>
          </a:ln>
          <a:solidFill>
            <a:srgbClr val="1111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2120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B"/>
                </a:solidFill>
                <a:latin typeface="Helvetica Neue"/>
              </a:rPr>
              <a:t>Find a chicken soup recipe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715000"/>
            <a:ext cx="5303520" cy="438912"/>
          </a:xfrm>
          <a:prstGeom prst="roundRect">
            <a:avLst>
              <a:gd name="adj" fmla="val 25000"/>
            </a:avLst>
          </a:prstGeom>
          <a:ln>
            <a:noFill/>
          </a:ln>
          <a:solidFill>
            <a:srgbClr val="1111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7607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B"/>
                </a:solidFill>
                <a:latin typeface="Helvetica Neue"/>
              </a:rPr>
              <a:t>Send a note to the front desk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02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E"/>
                </a:solidFill>
                <a:latin typeface="Helvetica Neue"/>
              </a:rPr>
              <a:t>How it works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1170432"/>
            <a:ext cx="384048" cy="384048"/>
          </a:xfrm>
          <a:prstGeom prst="roundRect">
            <a:avLst>
              <a:gd name="adj" fmla="val 50000"/>
            </a:avLst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1188720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9090F"/>
                </a:solidFill>
                <a:latin typeface="Helvetica Neue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0972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Helvetica Neue"/>
              </a:rPr>
              <a:t>Voice request arrives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14630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6E"/>
                </a:solidFill>
                <a:latin typeface="Helvetica Neue"/>
              </a:rPr>
              <a:t>Patient speaks their need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31736" y="1600200"/>
            <a:ext cx="36576" cy="457200"/>
          </a:xfrm>
          <a:prstGeom prst="rect">
            <a:avLst/>
          </a:prstGeom>
          <a:ln>
            <a:noFill/>
          </a:ln>
          <a:solidFill>
            <a:srgbClr val="5555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2267712"/>
            <a:ext cx="384048" cy="384048"/>
          </a:xfrm>
          <a:prstGeom prst="roundRect">
            <a:avLst>
              <a:gd name="adj" fmla="val 50000"/>
            </a:avLst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2286000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9090F"/>
                </a:solidFill>
                <a:latin typeface="Helvetica Neue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1945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Helvetica Neue"/>
              </a:rPr>
              <a:t>Claude classifies as digital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5603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6E"/>
                </a:solidFill>
                <a:latin typeface="Helvetica Neue"/>
              </a:rPr>
              <a:t>Automated task identified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31736" y="2697480"/>
            <a:ext cx="36576" cy="457200"/>
          </a:xfrm>
          <a:prstGeom prst="rect">
            <a:avLst/>
          </a:prstGeom>
          <a:ln>
            <a:noFill/>
          </a:ln>
          <a:solidFill>
            <a:srgbClr val="5555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0" y="3364991"/>
            <a:ext cx="384048" cy="384048"/>
          </a:xfrm>
          <a:prstGeom prst="roundRect">
            <a:avLst>
              <a:gd name="adj" fmla="val 50000"/>
            </a:avLst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3383279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9090F"/>
                </a:solidFill>
                <a:latin typeface="Helvetica Neue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291839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Helvetica Neue"/>
              </a:rPr>
              <a:t>Script generated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657599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6E"/>
                </a:solidFill>
                <a:latin typeface="Helvetica Neue"/>
              </a:rPr>
              <a:t>Simulang TypeScript written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31736" y="3794759"/>
            <a:ext cx="36576" cy="457200"/>
          </a:xfrm>
          <a:prstGeom prst="rect">
            <a:avLst/>
          </a:prstGeom>
          <a:ln>
            <a:noFill/>
          </a:ln>
          <a:solidFill>
            <a:srgbClr val="5555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0" y="4462272"/>
            <a:ext cx="384048" cy="384048"/>
          </a:xfrm>
          <a:prstGeom prst="roundRect">
            <a:avLst>
              <a:gd name="adj" fmla="val 50000"/>
            </a:avLst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4480559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9090F"/>
                </a:solidFill>
                <a:latin typeface="Helvetica Neue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43891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Helvetica Neue"/>
              </a:rPr>
              <a:t>Patient confirms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47548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6E"/>
                </a:solidFill>
                <a:latin typeface="Helvetica Neue"/>
              </a:rPr>
              <a:t>AI speaks the task aloud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31736" y="4892040"/>
            <a:ext cx="36576" cy="457200"/>
          </a:xfrm>
          <a:prstGeom prst="rect">
            <a:avLst/>
          </a:prstGeom>
          <a:ln>
            <a:noFill/>
          </a:ln>
          <a:solidFill>
            <a:srgbClr val="5555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0" y="5559552"/>
            <a:ext cx="384048" cy="384048"/>
          </a:xfrm>
          <a:prstGeom prst="roundRect">
            <a:avLst>
              <a:gd name="adj" fmla="val 50000"/>
            </a:avLst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5577840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9090F"/>
                </a:solidFill>
                <a:latin typeface="Helvetica Neue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54864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Helvetica Neue"/>
              </a:rPr>
              <a:t>Simular runs 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5852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6E"/>
                </a:solidFill>
                <a:latin typeface="Helvetica Neue"/>
              </a:rPr>
              <a:t>Task executed on desktop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solidFill>
            <a:srgbClr val="09090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96E"/>
                </a:solidFill>
                <a:latin typeface="Helvetica Neue"/>
              </a:rPr>
              <a:t>Family &amp; 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05840"/>
            <a:ext cx="548640" cy="22860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Helvetica Neue"/>
              </a:rPr>
              <a:t>Families stay
connected.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34640"/>
            <a:ext cx="5303520" cy="3566160"/>
          </a:xfrm>
          <a:prstGeom prst="roundRect">
            <a:avLst>
              <a:gd name="adj" fmla="val 4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834640"/>
            <a:ext cx="5303520" cy="36576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Helvetica Neue"/>
              </a:rPr>
              <a:t>Family Summaries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47872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D4A8"/>
                </a:solidFill>
                <a:latin typeface="Helvetica Neue"/>
              </a:rPr>
              <a:t>Claude writes a daily digest — warm, human, and personal — sent to family members.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663440"/>
            <a:ext cx="182880" cy="256032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46177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0EB"/>
                </a:solidFill>
                <a:latin typeface="Helvetica Neue"/>
              </a:rPr>
              <a:t>Positive moments highlighted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5166359"/>
            <a:ext cx="182880" cy="256032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512064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0EB"/>
                </a:solidFill>
                <a:latin typeface="Helvetica Neue"/>
              </a:rPr>
              <a:t>Concerns flagged proactively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5669279"/>
            <a:ext cx="182880" cy="256032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562356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0EB"/>
                </a:solidFill>
                <a:latin typeface="Helvetica Neue"/>
              </a:rPr>
              <a:t>Not robotic. Not clinical.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834640"/>
            <a:ext cx="5303520" cy="3566160"/>
          </a:xfrm>
          <a:prstGeom prst="roundRect">
            <a:avLst>
              <a:gd name="adj" fmla="val 40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2834640"/>
            <a:ext cx="5303520" cy="36576"/>
          </a:xfrm>
          <a:prstGeom prst="rect">
            <a:avLst/>
          </a:prstGeom>
          <a:ln>
            <a:noFill/>
          </a:ln>
          <a:solidFill>
            <a:srgbClr val="6B9B8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3017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Helvetica Neue"/>
              </a:rPr>
              <a:t>Patient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547872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D4A8"/>
                </a:solidFill>
                <a:latin typeface="Helvetica Neue"/>
              </a:rPr>
              <a:t>Redis stores every interaction. Claude knows preferences and history before speaking.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4663440"/>
            <a:ext cx="182880" cy="256032"/>
          </a:xfrm>
          <a:prstGeom prst="rect">
            <a:avLst/>
          </a:prstGeom>
          <a:ln>
            <a:noFill/>
          </a:ln>
          <a:solidFill>
            <a:srgbClr val="6B9B8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46177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0EB"/>
                </a:solidFill>
                <a:latin typeface="Helvetica Neue"/>
              </a:rPr>
              <a:t>Short-term session context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5166359"/>
            <a:ext cx="182880" cy="256032"/>
          </a:xfrm>
          <a:prstGeom prst="rect">
            <a:avLst/>
          </a:prstGeom>
          <a:ln>
            <a:noFill/>
          </a:ln>
          <a:solidFill>
            <a:srgbClr val="6B9B8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512064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0EB"/>
                </a:solidFill>
                <a:latin typeface="Helvetica Neue"/>
              </a:rPr>
              <a:t>Long-term preferences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5669279"/>
            <a:ext cx="182880" cy="256032"/>
          </a:xfrm>
          <a:prstGeom prst="rect">
            <a:avLst/>
          </a:prstGeom>
          <a:ln>
            <a:noFill/>
          </a:ln>
          <a:solidFill>
            <a:srgbClr val="6B9B8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562356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0EB"/>
                </a:solidFill>
                <a:latin typeface="Helvetica Neue"/>
              </a:rPr>
              <a:t>Richer triage every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400800"/>
            <a:ext cx="10561320" cy="347472"/>
          </a:xfrm>
          <a:prstGeom prst="roundRect">
            <a:avLst>
              <a:gd name="adj" fmla="val 20000"/>
            </a:avLst>
          </a:prstGeom>
          <a:ln>
            <a:noFill/>
          </a:ln>
          <a:solidFill>
            <a:srgbClr val="1414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6437376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6E"/>
                </a:solidFill>
                <a:latin typeface="Helvetica Neue"/>
              </a:rPr>
              <a:t>"Mary had a wonderful Friday — she asked for Sinatra and shared memories of her garden. A calm, happy day."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solidFill>
            <a:srgbClr val="09090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96E"/>
                </a:solidFill>
                <a:latin typeface="Helvetica Neue"/>
              </a:rPr>
              <a:t>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05840"/>
            <a:ext cx="548640" cy="22860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Helvetica Neue"/>
              </a:rPr>
              <a:t>Best-in-class,
end to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6E"/>
                </a:solidFill>
                <a:latin typeface="Helvetica Neue"/>
              </a:rP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46120"/>
            <a:ext cx="2423160" cy="18288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429000"/>
            <a:ext cx="2560320" cy="658368"/>
          </a:xfrm>
          <a:prstGeom prst="roundRect">
            <a:avLst>
              <a:gd name="adj" fmla="val 25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844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Next.js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233672"/>
            <a:ext cx="2560320" cy="658368"/>
          </a:xfrm>
          <a:prstGeom prst="roundRect">
            <a:avLst>
              <a:gd name="adj" fmla="val 25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89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TypeScript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038344"/>
            <a:ext cx="2560320" cy="658368"/>
          </a:xfrm>
          <a:prstGeom prst="roundRect">
            <a:avLst>
              <a:gd name="adj" fmla="val 25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1937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Electron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843016"/>
            <a:ext cx="2560320" cy="658368"/>
          </a:xfrm>
          <a:prstGeom prst="roundRect">
            <a:avLst>
              <a:gd name="adj" fmla="val 25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99846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WebSocket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6E"/>
                </a:solidFill>
                <a:latin typeface="Helvetica Neue"/>
              </a:rPr>
              <a:t>Backend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3246120"/>
            <a:ext cx="2423160" cy="18288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11880" y="3429000"/>
            <a:ext cx="2560320" cy="658368"/>
          </a:xfrm>
          <a:prstGeom prst="roundRect">
            <a:avLst>
              <a:gd name="adj" fmla="val 25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60" y="35844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FastAPI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80" y="4233672"/>
            <a:ext cx="2560320" cy="658368"/>
          </a:xfrm>
          <a:prstGeom prst="roundRect">
            <a:avLst>
              <a:gd name="adj" fmla="val 25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60" y="4389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Pydantic v2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11880" y="5038344"/>
            <a:ext cx="2560320" cy="658368"/>
          </a:xfrm>
          <a:prstGeom prst="roundRect">
            <a:avLst>
              <a:gd name="adj" fmla="val 25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51937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Python 3.12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11880" y="5843016"/>
            <a:ext cx="2560320" cy="658368"/>
          </a:xfrm>
          <a:prstGeom prst="roundRect">
            <a:avLst>
              <a:gd name="adj" fmla="val 25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599846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Uvicorn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6E"/>
                </a:solidFill>
                <a:latin typeface="Helvetica Neue"/>
              </a:rPr>
              <a:t>AI &amp;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3246120"/>
            <a:ext cx="2423160" cy="18288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3429000"/>
            <a:ext cx="2560320" cy="658368"/>
          </a:xfrm>
          <a:prstGeom prst="roundRect">
            <a:avLst>
              <a:gd name="adj" fmla="val 25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5844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Claude Sonnet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4233672"/>
            <a:ext cx="2560320" cy="658368"/>
          </a:xfrm>
          <a:prstGeom prst="roundRect">
            <a:avLst>
              <a:gd name="adj" fmla="val 25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4389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Deepgram STT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5038344"/>
            <a:ext cx="2560320" cy="658368"/>
          </a:xfrm>
          <a:prstGeom prst="roundRect">
            <a:avLst>
              <a:gd name="adj" fmla="val 25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51937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Redis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5843016"/>
            <a:ext cx="2560320" cy="658368"/>
          </a:xfrm>
          <a:prstGeom prst="roundRect">
            <a:avLst>
              <a:gd name="adj" fmla="val 25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599846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Arize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6E"/>
                </a:solidFill>
                <a:latin typeface="Helvetica Neue"/>
              </a:rPr>
              <a:t>Automation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3246120"/>
            <a:ext cx="2423160" cy="18288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81160" y="3429000"/>
            <a:ext cx="2560320" cy="658368"/>
          </a:xfrm>
          <a:prstGeom prst="roundRect">
            <a:avLst>
              <a:gd name="adj" fmla="val 25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5844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Simular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81160" y="4233672"/>
            <a:ext cx="2560320" cy="658368"/>
          </a:xfrm>
          <a:prstGeom prst="roundRect">
            <a:avLst>
              <a:gd name="adj" fmla="val 25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64040" y="4389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Simulang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81160" y="5038344"/>
            <a:ext cx="2560320" cy="658368"/>
          </a:xfrm>
          <a:prstGeom prst="roundRect">
            <a:avLst>
              <a:gd name="adj" fmla="val 25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64040" y="51937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Sentry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81160" y="5843016"/>
            <a:ext cx="2560320" cy="658368"/>
          </a:xfrm>
          <a:prstGeom prst="roundRect">
            <a:avLst>
              <a:gd name="adj" fmla="val 25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64040" y="599846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Electron Builder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solidFill>
            <a:srgbClr val="09090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28800" y="-914400"/>
            <a:ext cx="10058400" cy="10058400"/>
          </a:xfrm>
          <a:prstGeom prst="ellipse">
            <a:avLst/>
          </a:prstGeom>
          <a:ln>
            <a:noFill/>
          </a:ln>
          <a:solidFill>
            <a:srgbClr val="C8A96E">
              <a:alpha val="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96E"/>
                </a:solidFill>
                <a:latin typeface="Helvetica Neue"/>
              </a:rPr>
              <a:t>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05840"/>
            <a:ext cx="548640" cy="22860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Helvetica Neue"/>
              </a:rPr>
              <a:t>$1.4 trillion.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D4A8"/>
                </a:solidFill>
                <a:latin typeface="Helvetica Neue"/>
              </a:rPr>
              <a:t>Global elder care market — and today's tools are call buttons and clipboards.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37560"/>
            <a:ext cx="2560320" cy="1920240"/>
          </a:xfrm>
          <a:prstGeom prst="roundRect">
            <a:avLst>
              <a:gd name="adj" fmla="val 35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5643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8A96E"/>
                </a:solidFill>
                <a:latin typeface="Helvetica Neue"/>
              </a:rPr>
              <a:t>$1.4T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976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D4A8"/>
                </a:solidFill>
                <a:latin typeface="Helvetica Neue"/>
              </a:rPr>
              <a:t>Global market 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3337560"/>
            <a:ext cx="2560320" cy="1920240"/>
          </a:xfrm>
          <a:prstGeom prst="roundRect">
            <a:avLst>
              <a:gd name="adj" fmla="val 35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345643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8A96E"/>
                </a:solidFill>
                <a:latin typeface="Helvetica Neue"/>
              </a:rPr>
              <a:t>54M+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2976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D4A8"/>
                </a:solidFill>
                <a:latin typeface="Helvetica Neue"/>
              </a:rPr>
              <a:t>Americans needing daily care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3337560"/>
            <a:ext cx="2560320" cy="1920240"/>
          </a:xfrm>
          <a:prstGeom prst="roundRect">
            <a:avLst>
              <a:gd name="adj" fmla="val 35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45643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8A96E"/>
                </a:solidFill>
                <a:latin typeface="Helvetica Neue"/>
              </a:rPr>
              <a:t>3.7M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2976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D4A8"/>
                </a:solidFill>
                <a:latin typeface="Helvetica Neue"/>
              </a:rPr>
              <a:t>Nursing facility staff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3337560"/>
            <a:ext cx="2560320" cy="1920240"/>
          </a:xfrm>
          <a:prstGeom prst="roundRect">
            <a:avLst>
              <a:gd name="adj" fmla="val 35000"/>
            </a:avLst>
          </a:prstGeom>
          <a:ln>
            <a:noFill/>
          </a:ln>
          <a:solidFill>
            <a:srgbClr val="11111E"/>
          </a:solidFill>
          <a:effectLst>
            <a:outerShdw blurRad="60000" dist="3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345643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8A96E"/>
                </a:solidFill>
                <a:latin typeface="Helvetica Neue"/>
              </a:rPr>
              <a:t>10,000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42976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D4A8"/>
                </a:solidFill>
                <a:latin typeface="Helvetica Neue"/>
              </a:rPr>
              <a:t>Boomers turning 65 daily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23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556E"/>
                </a:solidFill>
                <a:latin typeface="Helvetica Neue"/>
              </a:rPr>
              <a:t>The problem is proven. The infrastructure is ready. The moment is now.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solidFill>
            <a:srgbClr val="09090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" y="-1600200"/>
            <a:ext cx="10058400" cy="10058400"/>
          </a:xfrm>
          <a:prstGeom prst="ellipse">
            <a:avLst/>
          </a:prstGeom>
          <a:ln>
            <a:noFill/>
          </a:ln>
          <a:solidFill>
            <a:srgbClr val="C8A96E">
              <a:alpha val="6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13048" y="1143000"/>
            <a:ext cx="4572000" cy="4572000"/>
          </a:xfrm>
          <a:prstGeom prst="ellipse">
            <a:avLst/>
          </a:prstGeom>
          <a:ln>
            <a:noFill/>
          </a:ln>
          <a:solidFill>
            <a:srgbClr val="C8A96E">
              <a:alpha val="1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Helvetica Neue"/>
              </a:rPr>
              <a:t>tendly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3048" y="3246120"/>
            <a:ext cx="4572000" cy="22860"/>
          </a:xfrm>
          <a:prstGeom prst="rect">
            <a:avLst/>
          </a:prstGeom>
          <a:ln>
            <a:noFill/>
          </a:ln>
          <a:solidFill>
            <a:srgbClr val="C8A9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8D4A8"/>
                </a:solidFill>
                <a:latin typeface="Helvetica Neue"/>
              </a:rPr>
              <a:t>AI-Powered Care for Every 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6E"/>
                </a:solidFill>
                <a:latin typeface="Helvetica Neue"/>
              </a:rPr>
              <a:t>Built with Claude · Deepgram · Simular · Redis · Arize · Next.js · FastAPI · Electron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44"/>
                </a:solidFill>
                <a:latin typeface="Helvetica Neue"/>
              </a:rPr>
              <a:t>Hackathon Demo  ·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